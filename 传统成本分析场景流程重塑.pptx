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72" r:id="rId3"/>
    <p:sldId id="291" r:id="rId4"/>
    <p:sldId id="296" r:id="rId5"/>
    <p:sldId id="300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92D050"/>
    <a:srgbClr val="00AF41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35C86E7-86B2-4211-82A9-78779EC84629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3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3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3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</a:tblStyle>
  <a:tblStyle styleId="{5B81C1A9-A12F-443D-967A-E39103988CF8}" styleName="表样式 1 14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3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5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208547" y="186569"/>
            <a:ext cx="11774906" cy="64848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" name="组合 6"/>
          <p:cNvGrpSpPr/>
          <p:nvPr userDrawn="1"/>
        </p:nvGrpSpPr>
        <p:grpSpPr>
          <a:xfrm>
            <a:off x="96456" y="325879"/>
            <a:ext cx="11999088" cy="681118"/>
            <a:chOff x="192505" y="2307657"/>
            <a:chExt cx="11819823" cy="2340546"/>
          </a:xfr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192505" y="2307657"/>
              <a:ext cx="11819823" cy="22426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4"/>
            <p:cNvSpPr/>
            <p:nvPr/>
          </p:nvSpPr>
          <p:spPr>
            <a:xfrm rot="16200000" flipH="1">
              <a:off x="223923" y="4518927"/>
              <a:ext cx="97859" cy="160693"/>
            </a:xfrm>
            <a:prstGeom prst="triangl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5"/>
            <p:cNvSpPr/>
            <p:nvPr/>
          </p:nvSpPr>
          <p:spPr>
            <a:xfrm rot="5400000">
              <a:off x="11874453" y="4518927"/>
              <a:ext cx="97859" cy="160693"/>
            </a:xfrm>
            <a:prstGeom prst="triangl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348201" y="416830"/>
            <a:ext cx="11446402" cy="4707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F4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5629077" y="5660543"/>
            <a:ext cx="9480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+mj-ea"/>
                <a:ea typeface="+mj-ea"/>
              </a:rPr>
              <a:t>2025.11</a:t>
            </a: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52436" y="1760429"/>
            <a:ext cx="10487025" cy="2714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kumimoji="1" lang="en-US" altLang="zh-CN" sz="5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1" lang="zh-CN" altLang="en-US" sz="5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应用场景</a:t>
            </a:r>
            <a:r>
              <a:rPr kumimoji="1" lang="zh-CN" altLang="en-US" sz="5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重塑</a:t>
            </a:r>
            <a:endParaRPr kumimoji="1" lang="zh-CN" altLang="en-US" sz="5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30000"/>
              </a:lnSpc>
            </a:pPr>
            <a:r>
              <a:rPr kumimoji="1"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成本分析</a:t>
            </a:r>
            <a:endParaRPr kumimoji="1"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465" y="294640"/>
            <a:ext cx="2176780" cy="491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边形 11"/>
          <p:cNvSpPr/>
          <p:nvPr/>
        </p:nvSpPr>
        <p:spPr>
          <a:xfrm rot="240000">
            <a:off x="11665585" y="327025"/>
            <a:ext cx="161925" cy="649605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 rot="240000">
            <a:off x="403225" y="327025"/>
            <a:ext cx="161925" cy="649605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650" y="406400"/>
            <a:ext cx="2176780" cy="49149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828675" y="406400"/>
            <a:ext cx="7422515" cy="470535"/>
          </a:xfrm>
        </p:spPr>
        <p:txBody>
          <a:bodyPr>
            <a:noAutofit/>
          </a:bodyPr>
          <a:p>
            <a:r>
              <a:rPr kumimoji="1" lang="en-US" altLang="zh-CN" sz="2000" dirty="0"/>
              <a:t> </a:t>
            </a:r>
            <a:r>
              <a:rPr kumimoji="1" lang="zh-CN" altLang="en-US" sz="2000" dirty="0"/>
              <a:t>成本分析流程重塑前后对比</a:t>
            </a:r>
            <a:endParaRPr kumimoji="1"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228600" y="1147445"/>
            <a:ext cx="2113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重塑前流程：</a:t>
            </a:r>
            <a:endParaRPr lang="zh-CN" altLang="en-US" b="1"/>
          </a:p>
          <a:p>
            <a:r>
              <a:rPr lang="zh-CN" altLang="en-US"/>
              <a:t>传统人工核价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62070" y="1147445"/>
            <a:ext cx="3002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重塑后流程：</a:t>
            </a:r>
            <a:endParaRPr lang="zh-CN" altLang="en-US" b="1"/>
          </a:p>
          <a:p>
            <a:r>
              <a:rPr lang="en-US" altLang="zh-CN"/>
              <a:t>AI</a:t>
            </a:r>
            <a:r>
              <a:rPr lang="zh-CN" altLang="en-US"/>
              <a:t>识图，一图知</a:t>
            </a:r>
            <a:r>
              <a:rPr lang="zh-CN" altLang="en-US"/>
              <a:t>价</a:t>
            </a:r>
            <a:endParaRPr lang="zh-CN" altLang="en-US"/>
          </a:p>
        </p:txBody>
      </p:sp>
      <p:sp>
        <p:nvSpPr>
          <p:cNvPr id="18" name="流程"/>
          <p:cNvSpPr/>
          <p:nvPr/>
        </p:nvSpPr>
        <p:spPr>
          <a:xfrm>
            <a:off x="2228322" y="102496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等待拿到样衣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流程"/>
          <p:cNvSpPr/>
          <p:nvPr/>
        </p:nvSpPr>
        <p:spPr>
          <a:xfrm>
            <a:off x="2228322" y="188606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逐件分析所有面料、辅料成本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nnectLine"/>
          <p:cNvSpPr/>
          <p:nvPr/>
        </p:nvSpPr>
        <p:spPr>
          <a:xfrm>
            <a:off x="2728322" y="2486061"/>
            <a:ext cx="10000" cy="390000"/>
          </a:xfrm>
          <a:custGeom>
            <a:avLst/>
            <a:gdLst/>
            <a:ahLst/>
            <a:cxnLst/>
            <a:rect l="l" t="t" r="r" b="b"/>
            <a:pathLst>
              <a:path w="10000" h="390000" fill="none">
                <a:moveTo>
                  <a:pt x="0" y="0"/>
                </a:moveTo>
                <a:lnTo>
                  <a:pt x="0" y="390000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流程"/>
          <p:cNvSpPr/>
          <p:nvPr/>
        </p:nvSpPr>
        <p:spPr>
          <a:xfrm>
            <a:off x="2228322" y="287606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多角度观察测量工艺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onnectLine"/>
          <p:cNvSpPr/>
          <p:nvPr/>
        </p:nvSpPr>
        <p:spPr>
          <a:xfrm>
            <a:off x="2728595" y="1639570"/>
            <a:ext cx="76200" cy="266065"/>
          </a:xfrm>
          <a:custGeom>
            <a:avLst/>
            <a:gdLst/>
            <a:ahLst/>
            <a:cxnLst/>
            <a:rect l="l" t="t" r="r" b="b"/>
            <a:pathLst>
              <a:path w="10000" h="350000" fill="none">
                <a:moveTo>
                  <a:pt x="0" y="0"/>
                </a:moveTo>
                <a:lnTo>
                  <a:pt x="0" y="350000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ConnectLine"/>
          <p:cNvSpPr/>
          <p:nvPr/>
        </p:nvSpPr>
        <p:spPr>
          <a:xfrm>
            <a:off x="2728322" y="3476061"/>
            <a:ext cx="10000" cy="430000"/>
          </a:xfrm>
          <a:custGeom>
            <a:avLst/>
            <a:gdLst/>
            <a:ahLst/>
            <a:cxnLst/>
            <a:rect l="l" t="t" r="r" b="b"/>
            <a:pathLst>
              <a:path w="10000" h="430000" fill="none">
                <a:moveTo>
                  <a:pt x="0" y="0"/>
                </a:moveTo>
                <a:lnTo>
                  <a:pt x="0" y="430000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" name="流程"/>
          <p:cNvSpPr/>
          <p:nvPr/>
        </p:nvSpPr>
        <p:spPr>
          <a:xfrm>
            <a:off x="2228322" y="3911061"/>
            <a:ext cx="1000000" cy="730000"/>
          </a:xfrm>
          <a:custGeom>
            <a:avLst/>
            <a:gdLst>
              <a:gd name="connsiteX0" fmla="*/ 0 w 1000000"/>
              <a:gd name="connsiteY0" fmla="*/ 365000 h 730000"/>
              <a:gd name="connsiteX1" fmla="*/ 500000 w 1000000"/>
              <a:gd name="connsiteY1" fmla="*/ 0 h 730000"/>
              <a:gd name="connsiteX2" fmla="*/ 1000000 w 1000000"/>
              <a:gd name="connsiteY2" fmla="*/ 365000 h 730000"/>
              <a:gd name="connsiteX3" fmla="*/ 500000 w 1000000"/>
              <a:gd name="connsiteY3" fmla="*/ 730000 h 73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730000" stroke="0">
                <a:moveTo>
                  <a:pt x="1000000" y="730000"/>
                </a:moveTo>
                <a:lnTo>
                  <a:pt x="1000000" y="0"/>
                </a:lnTo>
                <a:lnTo>
                  <a:pt x="0" y="0"/>
                </a:lnTo>
                <a:lnTo>
                  <a:pt x="0" y="730000"/>
                </a:lnTo>
                <a:lnTo>
                  <a:pt x="1000000" y="730000"/>
                </a:lnTo>
                <a:close/>
              </a:path>
              <a:path w="1000000" h="730000" fill="none">
                <a:moveTo>
                  <a:pt x="1000000" y="730000"/>
                </a:moveTo>
                <a:lnTo>
                  <a:pt x="1000000" y="0"/>
                </a:lnTo>
                <a:lnTo>
                  <a:pt x="0" y="0"/>
                </a:lnTo>
                <a:lnTo>
                  <a:pt x="0" y="730000"/>
                </a:lnTo>
                <a:lnTo>
                  <a:pt x="1000000" y="730000"/>
                </a:lnTo>
                <a:close/>
              </a:path>
            </a:pathLst>
          </a:cu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拆分并记录每道工序（ 车缝裁剪后道）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onnectLine"/>
          <p:cNvSpPr/>
          <p:nvPr/>
        </p:nvSpPr>
        <p:spPr>
          <a:xfrm>
            <a:off x="2728322" y="4641061"/>
            <a:ext cx="10000" cy="440000"/>
          </a:xfrm>
          <a:custGeom>
            <a:avLst/>
            <a:gdLst/>
            <a:ahLst/>
            <a:cxnLst/>
            <a:rect l="l" t="t" r="r" b="b"/>
            <a:pathLst>
              <a:path w="10000" h="440000" fill="none">
                <a:moveTo>
                  <a:pt x="0" y="0"/>
                </a:moveTo>
                <a:lnTo>
                  <a:pt x="0" y="440000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流程"/>
          <p:cNvSpPr/>
          <p:nvPr/>
        </p:nvSpPr>
        <p:spPr>
          <a:xfrm>
            <a:off x="2228322" y="507606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调用标准库核算加工费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ConnectLine"/>
          <p:cNvSpPr/>
          <p:nvPr/>
        </p:nvSpPr>
        <p:spPr>
          <a:xfrm flipH="1">
            <a:off x="2658110" y="5676265"/>
            <a:ext cx="76200" cy="351790"/>
          </a:xfrm>
          <a:custGeom>
            <a:avLst/>
            <a:gdLst/>
            <a:ahLst/>
            <a:cxnLst/>
            <a:rect l="l" t="t" r="r" b="b"/>
            <a:pathLst>
              <a:path w="10000" h="470000" fill="none">
                <a:moveTo>
                  <a:pt x="0" y="0"/>
                </a:moveTo>
                <a:lnTo>
                  <a:pt x="0" y="470000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9" name="流程"/>
          <p:cNvSpPr/>
          <p:nvPr/>
        </p:nvSpPr>
        <p:spPr>
          <a:xfrm>
            <a:off x="2228322" y="602795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生成总成本（核价单）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流程"/>
          <p:cNvSpPr/>
          <p:nvPr/>
        </p:nvSpPr>
        <p:spPr>
          <a:xfrm>
            <a:off x="5049137" y="208033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上传一张款式图片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ConnectLine"/>
          <p:cNvSpPr/>
          <p:nvPr/>
        </p:nvSpPr>
        <p:spPr>
          <a:xfrm>
            <a:off x="5556885" y="2685415"/>
            <a:ext cx="76200" cy="267970"/>
          </a:xfrm>
          <a:custGeom>
            <a:avLst/>
            <a:gdLst/>
            <a:ahLst/>
            <a:cxnLst/>
            <a:rect l="l" t="t" r="r" b="b"/>
            <a:pathLst>
              <a:path w="10000" h="190000" fill="none">
                <a:moveTo>
                  <a:pt x="0" y="0"/>
                </a:moveTo>
                <a:lnTo>
                  <a:pt x="0" y="190000"/>
                </a:lnTo>
              </a:path>
            </a:pathLst>
          </a:custGeom>
          <a:ln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2" name="流程"/>
          <p:cNvSpPr/>
          <p:nvPr/>
        </p:nvSpPr>
        <p:spPr>
          <a:xfrm>
            <a:off x="5049137" y="2953516"/>
            <a:ext cx="1000000" cy="920000"/>
          </a:xfrm>
          <a:custGeom>
            <a:avLst/>
            <a:gdLst>
              <a:gd name="connsiteX0" fmla="*/ 0 w 1000000"/>
              <a:gd name="connsiteY0" fmla="*/ 460000 h 920000"/>
              <a:gd name="connsiteX1" fmla="*/ 500000 w 1000000"/>
              <a:gd name="connsiteY1" fmla="*/ 0 h 920000"/>
              <a:gd name="connsiteX2" fmla="*/ 1000000 w 1000000"/>
              <a:gd name="connsiteY2" fmla="*/ 460000 h 920000"/>
              <a:gd name="connsiteX3" fmla="*/ 500000 w 1000000"/>
              <a:gd name="connsiteY3" fmla="*/ 920000 h 9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920000" stroke="0">
                <a:moveTo>
                  <a:pt x="1000000" y="920000"/>
                </a:moveTo>
                <a:lnTo>
                  <a:pt x="1000000" y="0"/>
                </a:lnTo>
                <a:lnTo>
                  <a:pt x="0" y="0"/>
                </a:lnTo>
                <a:lnTo>
                  <a:pt x="0" y="920000"/>
                </a:lnTo>
                <a:lnTo>
                  <a:pt x="1000000" y="920000"/>
                </a:lnTo>
                <a:close/>
              </a:path>
              <a:path w="1000000" h="920000" fill="none">
                <a:moveTo>
                  <a:pt x="1000000" y="920000"/>
                </a:moveTo>
                <a:lnTo>
                  <a:pt x="1000000" y="0"/>
                </a:lnTo>
                <a:lnTo>
                  <a:pt x="0" y="0"/>
                </a:lnTo>
                <a:lnTo>
                  <a:pt x="0" y="920000"/>
                </a:lnTo>
                <a:lnTo>
                  <a:pt x="1000000" y="920000"/>
                </a:ln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l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AI模型自动识别款式工艺特征匹配历史款式成本信息库、智能分析工艺特征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流程"/>
          <p:cNvSpPr/>
          <p:nvPr/>
        </p:nvSpPr>
        <p:spPr>
          <a:xfrm>
            <a:off x="5049137" y="4303351"/>
            <a:ext cx="1000000" cy="600000"/>
          </a:xfrm>
          <a:custGeom>
            <a:avLst/>
            <a:gdLst>
              <a:gd name="connsiteX0" fmla="*/ 0 w 1000000"/>
              <a:gd name="connsiteY0" fmla="*/ 300000 h 600000"/>
              <a:gd name="connsiteX1" fmla="*/ 500000 w 1000000"/>
              <a:gd name="connsiteY1" fmla="*/ 0 h 600000"/>
              <a:gd name="connsiteX2" fmla="*/ 1000000 w 1000000"/>
              <a:gd name="connsiteY2" fmla="*/ 300000 h 600000"/>
              <a:gd name="connsiteX3" fmla="*/ 500000 w 1000000"/>
              <a:gd name="connsiteY3" fmla="*/ 6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00" h="600000" stroke="0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  <a:path w="1000000" h="600000" fill="none">
                <a:moveTo>
                  <a:pt x="1000000" y="600000"/>
                </a:moveTo>
                <a:lnTo>
                  <a:pt x="1000000" y="0"/>
                </a:lnTo>
                <a:lnTo>
                  <a:pt x="0" y="0"/>
                </a:lnTo>
                <a:lnTo>
                  <a:pt x="0" y="600000"/>
                </a:lnTo>
                <a:lnTo>
                  <a:pt x="1000000" y="600000"/>
                </a:ln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8100" tIns="38100" rIns="38100" bIns="38100" rtlCol="0" anchor="ctr"/>
          <a:p>
            <a:pPr algn="ctr"/>
            <a:r>
              <a:rPr lang="zh-CN" altLang="en-US" sz="1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展示结构化预估成本信息</a:t>
            </a:r>
            <a:endParaRPr lang="zh-CN" altLang="en-US" sz="1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ConnectLine"/>
          <p:cNvSpPr/>
          <p:nvPr/>
        </p:nvSpPr>
        <p:spPr>
          <a:xfrm>
            <a:off x="5556885" y="3907155"/>
            <a:ext cx="76200" cy="362585"/>
          </a:xfrm>
          <a:custGeom>
            <a:avLst/>
            <a:gdLst/>
            <a:ahLst/>
            <a:cxnLst/>
            <a:rect l="l" t="t" r="r" b="b"/>
            <a:pathLst>
              <a:path w="10000" h="480000" fill="none">
                <a:moveTo>
                  <a:pt x="0" y="0"/>
                </a:moveTo>
                <a:lnTo>
                  <a:pt x="0" y="480000"/>
                </a:lnTo>
              </a:path>
            </a:pathLst>
          </a:custGeom>
          <a:ln>
            <a:tailEnd type="triangle" w="med" len="med"/>
          </a:ln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5" name="Right Arrow 49"/>
          <p:cNvSpPr/>
          <p:nvPr>
            <p:custDataLst>
              <p:tags r:id="rId2"/>
            </p:custDataLst>
          </p:nvPr>
        </p:nvSpPr>
        <p:spPr bwMode="auto">
          <a:xfrm>
            <a:off x="3561715" y="3233420"/>
            <a:ext cx="1171575" cy="387985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ctr" anchorCtr="0" compatLnSpc="1"/>
          <a:p>
            <a:pPr algn="ctr"/>
            <a:endParaRPr 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910" y="3757295"/>
            <a:ext cx="4338955" cy="2826385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45" y="1147445"/>
            <a:ext cx="4322445" cy="24593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4160520" y="5034280"/>
            <a:ext cx="2776220" cy="1476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未来</a:t>
            </a:r>
            <a:r>
              <a:rPr lang="zh-CN" altLang="en-US"/>
              <a:t>方向：</a:t>
            </a:r>
            <a:endParaRPr lang="zh-CN" altLang="en-US"/>
          </a:p>
          <a:p>
            <a:r>
              <a:rPr lang="zh-CN" altLang="en-US"/>
              <a:t>①加入面辅料等成本信息</a:t>
            </a:r>
            <a:r>
              <a:rPr lang="zh-CN" altLang="en-US"/>
              <a:t>展示</a:t>
            </a:r>
            <a:endParaRPr lang="zh-CN" altLang="en-US"/>
          </a:p>
          <a:p>
            <a:r>
              <a:rPr lang="zh-CN" altLang="en-US"/>
              <a:t>②实现部件图识图知价，拓宽更多业务</a:t>
            </a:r>
            <a:r>
              <a:rPr lang="zh-CN" altLang="en-US"/>
              <a:t>场景。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边形 11"/>
          <p:cNvSpPr/>
          <p:nvPr/>
        </p:nvSpPr>
        <p:spPr>
          <a:xfrm rot="240000">
            <a:off x="11665585" y="327025"/>
            <a:ext cx="161925" cy="649605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 rot="240000">
            <a:off x="403225" y="327025"/>
            <a:ext cx="161925" cy="649605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650" y="406400"/>
            <a:ext cx="2176780" cy="49149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828675" y="406400"/>
            <a:ext cx="7422515" cy="470535"/>
          </a:xfrm>
        </p:spPr>
        <p:txBody>
          <a:bodyPr>
            <a:noAutofit/>
          </a:bodyPr>
          <a:p>
            <a:r>
              <a:rPr kumimoji="1" lang="en-US" altLang="zh-CN" sz="2000" dirty="0">
                <a:sym typeface="+mn-ea"/>
              </a:rPr>
              <a:t> </a:t>
            </a:r>
            <a:r>
              <a:rPr kumimoji="1" lang="zh-CN" altLang="en-US" sz="2000" dirty="0">
                <a:sym typeface="+mn-ea"/>
              </a:rPr>
              <a:t>成本分析流程重塑前后对比</a:t>
            </a:r>
            <a:endParaRPr kumimoji="1"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323850" y="1095375"/>
            <a:ext cx="2849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新旧流程核心指标对比：</a:t>
            </a:r>
            <a:endParaRPr lang="zh-CN" altLang="en-US"/>
          </a:p>
        </p:txBody>
      </p:sp>
      <p:graphicFrame>
        <p:nvGraphicFramePr>
          <p:cNvPr id="29" name="表格 28"/>
          <p:cNvGraphicFramePr/>
          <p:nvPr>
            <p:custDataLst>
              <p:tags r:id="rId2"/>
            </p:custDataLst>
          </p:nvPr>
        </p:nvGraphicFramePr>
        <p:xfrm>
          <a:off x="3002915" y="1056005"/>
          <a:ext cx="8452485" cy="5326380"/>
        </p:xfrm>
        <a:graphic>
          <a:graphicData uri="http://schemas.openxmlformats.org/drawingml/2006/table">
            <a:tbl>
              <a:tblPr firstRow="1" bandRow="1">
                <a:tableStyleId>{C35C86E7-86B2-4211-82A9-78779EC84629}</a:tableStyleId>
              </a:tblPr>
              <a:tblGrid>
                <a:gridCol w="1397000"/>
                <a:gridCol w="2527300"/>
                <a:gridCol w="2603500"/>
                <a:gridCol w="1924685"/>
              </a:tblGrid>
              <a:tr h="58039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spc="130">
                          <a:solidFill>
                            <a:schemeClr val="tx1"/>
                          </a:solidFill>
                        </a:rPr>
                        <a:t>对比维度</a:t>
                      </a:r>
                      <a:endParaRPr lang="zh-CN" altLang="en-US" sz="1800" spc="130">
                        <a:solidFill>
                          <a:schemeClr val="tx1"/>
                        </a:solidFill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spc="13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旧</a:t>
                      </a:r>
                      <a:r>
                        <a:rPr lang="zh-CN" altLang="en-US" sz="1800" spc="130">
                          <a:solidFill>
                            <a:schemeClr val="tx1"/>
                          </a:solidFill>
                        </a:rPr>
                        <a:t>流程</a:t>
                      </a:r>
                      <a:endParaRPr lang="en-US" altLang="zh-CN" sz="1800" spc="130">
                        <a:solidFill>
                          <a:schemeClr val="tx1"/>
                        </a:solidFill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spc="13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新</a:t>
                      </a:r>
                      <a:r>
                        <a:rPr lang="zh-CN" altLang="en-US" sz="1800" spc="130">
                          <a:solidFill>
                            <a:schemeClr val="tx1"/>
                          </a:solidFill>
                        </a:rPr>
                        <a:t>流程</a:t>
                      </a:r>
                      <a:endParaRPr lang="en-US" altLang="zh-CN" sz="1800" spc="130">
                        <a:solidFill>
                          <a:schemeClr val="tx1"/>
                        </a:solidFill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spc="130">
                          <a:solidFill>
                            <a:schemeClr val="tx1"/>
                          </a:solidFill>
                        </a:rPr>
                        <a:t>提升效果</a:t>
                      </a:r>
                      <a:endParaRPr lang="zh-CN" altLang="en-US" sz="1800" spc="130">
                        <a:solidFill>
                          <a:schemeClr val="tx1"/>
                        </a:solidFill>
                      </a:endParaRPr>
                    </a:p>
                  </a:txBody>
                  <a:tcPr marL="177800" marR="177800" marT="107950" marB="107950" anchor="ctr" anchorCtr="0"/>
                </a:tc>
              </a:tr>
              <a:tr h="8509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单款核价耗时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spc="120"/>
                        <a:t>20-120</a:t>
                      </a:r>
                      <a:r>
                        <a:rPr lang="en-US" altLang="zh-CN" sz="1600" spc="120"/>
                        <a:t>min/</a:t>
                      </a:r>
                      <a:r>
                        <a:rPr lang="zh-CN" altLang="en-US" sz="1600" spc="120"/>
                        <a:t>款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spc="120"/>
                        <a:t>&lt; 2 </a:t>
                      </a:r>
                      <a:r>
                        <a:rPr lang="zh-CN" altLang="en-US" sz="1600" spc="120"/>
                        <a:t>分钟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效率提升</a:t>
                      </a:r>
                      <a:r>
                        <a:rPr lang="en-US" altLang="zh-CN" sz="1600" b="1" spc="12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90%</a:t>
                      </a:r>
                      <a:r>
                        <a:rPr lang="en-US" altLang="zh-CN" sz="1600" spc="120"/>
                        <a:t>+</a:t>
                      </a:r>
                      <a:endParaRPr lang="en-US" altLang="zh-CN" sz="1600" spc="120"/>
                    </a:p>
                  </a:txBody>
                  <a:tcPr marL="177800" marR="177800" marT="107950" marB="107950" anchor="ctr" anchorCtr="0"/>
                </a:tc>
              </a:tr>
              <a:tr h="85153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样衣依赖度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需要</a:t>
                      </a:r>
                      <a:r>
                        <a:rPr lang="zh-CN" altLang="en-US" sz="1600" spc="120"/>
                        <a:t>实物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只需</a:t>
                      </a:r>
                      <a:r>
                        <a:rPr lang="zh-CN" altLang="en-US" sz="1600" spc="120"/>
                        <a:t>图片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减少实物</a:t>
                      </a:r>
                      <a:r>
                        <a:rPr lang="zh-CN" altLang="en-US" sz="1600" b="1" spc="120"/>
                        <a:t>依赖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</a:tr>
              <a:tr h="54102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经验依赖度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高（</a:t>
                      </a:r>
                      <a:r>
                        <a:rPr lang="zh-CN" altLang="en-US" sz="1600" spc="120"/>
                        <a:t>核价员）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低（系统</a:t>
                      </a:r>
                      <a:r>
                        <a:rPr lang="zh-CN" altLang="en-US" sz="1600" spc="120"/>
                        <a:t>标准化）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降低人才</a:t>
                      </a:r>
                      <a:r>
                        <a:rPr lang="zh-CN" altLang="en-US" sz="1600" b="1" spc="12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门槛</a:t>
                      </a:r>
                      <a:endParaRPr lang="zh-CN" altLang="en-US" sz="1600" b="1" spc="12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marL="177800" marR="177800" marT="107950" marB="107950" anchor="ctr" anchorCtr="0"/>
                </a:tc>
              </a:tr>
              <a:tr h="8509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标准性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依人员水平</a:t>
                      </a:r>
                      <a:r>
                        <a:rPr lang="zh-CN" altLang="en-US" sz="1600" spc="120"/>
                        <a:t>浮动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统一的标准数据库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规范性提升，减少人为</a:t>
                      </a:r>
                      <a:r>
                        <a:rPr lang="zh-CN" altLang="en-US" sz="1600" spc="120"/>
                        <a:t>差异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</a:tr>
              <a:tr h="85153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时效性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找人</a:t>
                      </a:r>
                      <a:r>
                        <a:rPr lang="zh-CN" altLang="en-US" sz="1600" spc="120"/>
                        <a:t>核算，等待价格，周期</a:t>
                      </a:r>
                      <a:r>
                        <a:rPr lang="zh-CN" altLang="en-US" sz="1600" spc="120"/>
                        <a:t>长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研发初期即可自己获取成本，指导成本</a:t>
                      </a:r>
                      <a:r>
                        <a:rPr lang="zh-CN" altLang="en-US" sz="1600" spc="120"/>
                        <a:t>优化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成本前置，快速获取</a:t>
                      </a:r>
                      <a:r>
                        <a:rPr lang="zh-CN" altLang="en-US" sz="1600" b="1" spc="12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价格</a:t>
                      </a:r>
                      <a:endParaRPr lang="zh-CN" altLang="en-US" sz="1600" b="1" spc="12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marL="177800" marR="177800" marT="107950" marB="107950" anchor="ctr" anchorCtr="0"/>
                </a:tc>
              </a:tr>
              <a:tr h="54102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批量处理能力</a:t>
                      </a:r>
                      <a:endParaRPr lang="zh-CN" altLang="en-US" sz="1600" b="1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极弱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批量识图</a:t>
                      </a:r>
                      <a:r>
                        <a:rPr lang="zh-CN" altLang="en-US" sz="1600" spc="120"/>
                        <a:t>估价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spc="120"/>
                        <a:t>支持海量</a:t>
                      </a:r>
                      <a:r>
                        <a:rPr lang="zh-CN" altLang="en-US" sz="1600" spc="120"/>
                        <a:t>评估</a:t>
                      </a:r>
                      <a:endParaRPr lang="zh-CN" altLang="en-US" sz="1600" spc="120"/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09880" y="3110230"/>
            <a:ext cx="2693035" cy="25844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未来</a:t>
            </a:r>
            <a:r>
              <a:rPr lang="zh-CN" altLang="en-US"/>
              <a:t>方向：</a:t>
            </a:r>
            <a:endParaRPr lang="zh-CN" altLang="en-US"/>
          </a:p>
          <a:p>
            <a:r>
              <a:rPr lang="zh-CN" altLang="en-US"/>
              <a:t>①规范图片数据标准，提升</a:t>
            </a:r>
            <a:r>
              <a:rPr lang="zh-CN" altLang="en-US"/>
              <a:t>准确性。</a:t>
            </a:r>
            <a:endParaRPr lang="zh-CN" altLang="en-US"/>
          </a:p>
          <a:p>
            <a:r>
              <a:rPr lang="zh-CN" altLang="en-US"/>
              <a:t>②实现部件图识图知价，拓宽更多业务</a:t>
            </a:r>
            <a:r>
              <a:rPr lang="zh-CN" altLang="en-US"/>
              <a:t>场景。</a:t>
            </a:r>
            <a:endParaRPr lang="zh-CN" altLang="en-US"/>
          </a:p>
          <a:p>
            <a:r>
              <a:rPr lang="zh-CN" altLang="en-US"/>
              <a:t>③同商品前端协同，针对性优化</a:t>
            </a:r>
            <a:r>
              <a:rPr lang="zh-CN" altLang="en-US"/>
              <a:t>更加实用便捷的成本前置</a:t>
            </a:r>
            <a:r>
              <a:rPr lang="zh-CN" altLang="en-US"/>
              <a:t>工具。</a:t>
            </a:r>
            <a:endParaRPr lang="zh-CN" altLang="en-US"/>
          </a:p>
          <a:p>
            <a:r>
              <a:rPr lang="zh-CN" altLang="en-US"/>
              <a:t>④普及推广使用</a:t>
            </a:r>
            <a:r>
              <a:rPr lang="zh-CN" altLang="en-US"/>
              <a:t>小工具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边形 11"/>
          <p:cNvSpPr/>
          <p:nvPr/>
        </p:nvSpPr>
        <p:spPr>
          <a:xfrm rot="240000">
            <a:off x="11665585" y="327025"/>
            <a:ext cx="161925" cy="649605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 rot="240000">
            <a:off x="403225" y="327025"/>
            <a:ext cx="161925" cy="649605"/>
          </a:xfrm>
          <a:prstGeom prst="parallelogram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650" y="406400"/>
            <a:ext cx="2176780" cy="49149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828675" y="406400"/>
            <a:ext cx="7422515" cy="470535"/>
          </a:xfrm>
        </p:spPr>
        <p:txBody>
          <a:bodyPr>
            <a:noAutofit/>
          </a:bodyPr>
          <a:p>
            <a:r>
              <a:rPr kumimoji="1" lang="en-US" sz="2000" dirty="0"/>
              <a:t>5. </a:t>
            </a:r>
            <a:r>
              <a:rPr kumimoji="1" lang="zh-CN" altLang="en-US" sz="2000" dirty="0"/>
              <a:t>总结与</a:t>
            </a:r>
            <a:r>
              <a:rPr kumimoji="1" lang="zh-CN" altLang="en-US" sz="2000" dirty="0"/>
              <a:t>反思</a:t>
            </a:r>
            <a:endParaRPr kumimoji="1" lang="zh-CN" altLang="en-US" sz="2000" dirty="0"/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15900" y="1210310"/>
          <a:ext cx="11137900" cy="5268595"/>
        </p:xfrm>
        <a:graphic>
          <a:graphicData uri="http://schemas.openxmlformats.org/drawingml/2006/table">
            <a:tbl>
              <a:tblPr firstRow="1" bandRow="1">
                <a:tableStyleId>{5B81C1A9-A12F-443D-967A-E39103988CF8}</a:tableStyleId>
              </a:tblPr>
              <a:tblGrid>
                <a:gridCol w="1386840"/>
                <a:gridCol w="1819275"/>
                <a:gridCol w="7931785"/>
              </a:tblGrid>
              <a:tr h="836930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spc="130"/>
                        <a:t>成果</a:t>
                      </a:r>
                      <a:r>
                        <a:rPr lang="zh-CN" altLang="en-US" sz="1700" spc="130"/>
                        <a:t>总结</a:t>
                      </a:r>
                      <a:endParaRPr lang="zh-CN" altLang="en-US" sz="1700" spc="13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spc="130"/>
                        <a:t>具体项目</a:t>
                      </a:r>
                      <a:endParaRPr lang="zh-CN" altLang="en-US" sz="1700" spc="13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spc="130"/>
                        <a:t>详细内容</a:t>
                      </a:r>
                      <a:endParaRPr lang="zh-CN" altLang="en-US" sz="1700" spc="130"/>
                    </a:p>
                  </a:txBody>
                  <a:tcPr marL="177800" marR="177800" marT="107950" marB="107950" anchor="ctr" anchorCtr="0"/>
                </a:tc>
              </a:tr>
              <a:tr h="503555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量化成果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处理效率提升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预估单款服装初步核价时间从平均 </a:t>
                      </a:r>
                      <a:r>
                        <a:rPr lang="en-US" altLang="zh-CN" sz="1500" spc="120"/>
                        <a:t>30 </a:t>
                      </a:r>
                      <a:r>
                        <a:rPr lang="zh-CN" altLang="en-US" sz="1500" spc="120"/>
                        <a:t>分钟缩短至 </a:t>
                      </a:r>
                      <a:r>
                        <a:rPr lang="en-US" altLang="zh-CN" sz="1500" spc="120"/>
                        <a:t>3 </a:t>
                      </a:r>
                      <a:r>
                        <a:rPr lang="zh-CN" altLang="en-US" sz="1500" spc="120"/>
                        <a:t>分钟，效率提升 </a:t>
                      </a:r>
                      <a:r>
                        <a:rPr lang="en-US" altLang="zh-CN" sz="1500" spc="120"/>
                        <a:t>90%</a:t>
                      </a:r>
                      <a:endParaRPr lang="en-US" altLang="zh-CN" sz="1500" spc="120"/>
                    </a:p>
                  </a:txBody>
                  <a:tcPr marL="177800" marR="177800" marT="107950" marB="107950" anchor="ctr" anchorCtr="0"/>
                </a:tc>
              </a:tr>
              <a:tr h="785495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模型性能指标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识别准确率约 </a:t>
                      </a:r>
                      <a:r>
                        <a:rPr lang="en-US" altLang="zh-CN" sz="1500" spc="120"/>
                        <a:t>80%</a:t>
                      </a:r>
                      <a:r>
                        <a:rPr lang="zh-CN" altLang="en-US" sz="1500" spc="120"/>
                        <a:t>；常规款式估价误差 </a:t>
                      </a:r>
                      <a:r>
                        <a:rPr lang="en-US" altLang="zh-CN" sz="1500" spc="120"/>
                        <a:t>±10% </a:t>
                      </a:r>
                      <a:r>
                        <a:rPr lang="zh-CN" altLang="en-US" sz="1500" spc="120"/>
                        <a:t>以内，复杂款式</a:t>
                      </a:r>
                      <a:r>
                        <a:rPr lang="en-US" altLang="zh-CN" sz="1500" spc="120"/>
                        <a:t>≤±15%</a:t>
                      </a:r>
                      <a:r>
                        <a:rPr lang="zh-CN" altLang="en-US" sz="1500" spc="120"/>
                        <a:t>；累计处理</a:t>
                      </a:r>
                      <a:r>
                        <a:rPr lang="en-US" sz="1500" spc="120"/>
                        <a:t>5000</a:t>
                      </a:r>
                      <a:r>
                        <a:rPr lang="zh-CN" altLang="en-US" sz="1500" spc="120"/>
                        <a:t> </a:t>
                      </a:r>
                      <a:r>
                        <a:rPr lang="en-US" altLang="zh-CN" sz="1500" spc="120"/>
                        <a:t>+ </a:t>
                      </a:r>
                      <a:r>
                        <a:rPr lang="zh-CN" altLang="en-US" sz="1500" spc="120"/>
                        <a:t>张服装款式 </a:t>
                      </a:r>
                      <a:r>
                        <a:rPr lang="en-US" altLang="zh-CN" sz="1500" spc="120"/>
                        <a:t>/ </a:t>
                      </a:r>
                      <a:r>
                        <a:rPr lang="zh-CN" altLang="en-US" sz="1500" spc="120"/>
                        <a:t>工艺图片，覆盖多品牌、多岁段、</a:t>
                      </a:r>
                      <a:r>
                        <a:rPr lang="zh-CN" altLang="en-US" sz="1500" spc="120"/>
                        <a:t>多品类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</a:tr>
              <a:tr h="785495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资源投入优化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减少核价员重复研发阶段核价时间，使其 </a:t>
                      </a:r>
                      <a:r>
                        <a:rPr lang="en-US" altLang="zh-CN" sz="1500" spc="120"/>
                        <a:t>40% </a:t>
                      </a:r>
                      <a:r>
                        <a:rPr lang="zh-CN" altLang="en-US" sz="1500" spc="120"/>
                        <a:t>精力转向复杂工艺核价与成本策略优化，人力效能提升 </a:t>
                      </a:r>
                      <a:r>
                        <a:rPr lang="en-US" altLang="zh-CN" sz="1500" spc="120"/>
                        <a:t>40%</a:t>
                      </a:r>
                      <a:endParaRPr lang="en-US" altLang="zh-CN" sz="1500" spc="120"/>
                    </a:p>
                  </a:txBody>
                  <a:tcPr marL="177800" marR="177800" marT="107950" marB="107950" anchor="ctr" anchorCtr="0"/>
                </a:tc>
              </a:tr>
              <a:tr h="785495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质化成果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技术创新性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优化 </a:t>
                      </a:r>
                      <a:r>
                        <a:rPr lang="en-US" altLang="zh-CN" sz="1500" spc="120"/>
                        <a:t>EfficientNet </a:t>
                      </a:r>
                      <a:r>
                        <a:rPr lang="zh-CN" altLang="en-US" sz="1500" spc="120"/>
                        <a:t>模型，结合款式工艺、成本等标签；模型实现高准确率且低计算量；结合</a:t>
                      </a:r>
                      <a:r>
                        <a:rPr lang="en-US" altLang="zh-CN" sz="1500" spc="120"/>
                        <a:t>Doubao-Seed-1.6</a:t>
                      </a:r>
                      <a:r>
                        <a:rPr lang="zh-CN" altLang="en-US" sz="1500" spc="120"/>
                        <a:t>多模态大模型输出工艺分析建议；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</a:tr>
              <a:tr h="786130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可复用性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spc="120"/>
                        <a:t>EfficientNet-B0 </a:t>
                      </a:r>
                      <a:r>
                        <a:rPr lang="zh-CN" altLang="en-US" sz="1500" spc="120"/>
                        <a:t>模型易于部署推广，适合资源受限场景；预训练权重可直接用于其他视觉任务，特别适合数据量有限场景；结合</a:t>
                      </a:r>
                      <a:r>
                        <a:rPr lang="en-US" altLang="zh-CN" sz="1500" spc="120"/>
                        <a:t>streamlit</a:t>
                      </a:r>
                      <a:r>
                        <a:rPr lang="zh-CN" altLang="en-US" sz="1500" spc="120"/>
                        <a:t>快速搭建识图</a:t>
                      </a:r>
                      <a:r>
                        <a:rPr lang="zh-CN" altLang="en-US" sz="1500" spc="120"/>
                        <a:t>系统；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</a:tr>
              <a:tr h="785495">
                <a:tc>
                  <a:txBody>
                    <a:bodyPr/>
                    <a:p>
                      <a:pPr indent="0"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降本提效的业务价值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spc="120"/>
                        <a:t>设计阶段淘汰高成本方案；统一研发</a:t>
                      </a:r>
                      <a:r>
                        <a:rPr lang="zh-CN" altLang="en-US" sz="1500" spc="120"/>
                        <a:t>阶段核价逻辑，减少“同款不同价”问题；方便获取款式工艺生产时间，提供生产排产建议</a:t>
                      </a:r>
                      <a:endParaRPr lang="zh-CN" altLang="en-US" sz="1500" spc="120"/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DIAGRAM_VIRTUALLY_FRAME" val="{&quot;height&quot;:410.2,&quot;left&quot;:476.2,&quot;top&quot;:112.75,&quot;width&quot;:461.3}"/>
</p:tagLst>
</file>

<file path=ppt/tags/tag63.xml><?xml version="1.0" encoding="utf-8"?>
<p:tagLst xmlns:p="http://schemas.openxmlformats.org/presentationml/2006/main">
  <p:tag name="TABLE_ENDDRAG_ORIGIN_RECT" val="643*399"/>
  <p:tag name="TABLE_ENDDRAG_RECT" val="231*103*643*399"/>
  <p:tag name="TABLE_AUTOADJUST_FLAG" val="1"/>
</p:tagLst>
</file>

<file path=ppt/tags/tag64.xml><?xml version="1.0" encoding="utf-8"?>
<p:tagLst xmlns:p="http://schemas.openxmlformats.org/presentationml/2006/main">
  <p:tag name="TABLE_ENDDRAG_ORIGIN_RECT" val="877*391"/>
  <p:tag name="TABLE_ENDDRAG_RECT" val="17*95*877*391"/>
</p:tagLst>
</file>

<file path=ppt/tags/tag65.xml><?xml version="1.0" encoding="utf-8"?>
<p:tagLst xmlns:p="http://schemas.openxmlformats.org/presentationml/2006/main">
  <p:tag name="KSO_WPP_MARK_KEY" val="c8439278-a494-4365-bdf7-97953b7afa53"/>
  <p:tag name="COMMONDATA" val="eyJoZGlkIjoiNmQzMzFlZTdmODYzYzI2NjBkZWNmMjJkYmZkZDgzNDgifQ=="/>
  <p:tag name="resource_record_key" val="{&quot;10&quot;:[21538983,50026282],&quot;29&quot;:[50000049,50000199,50000086,50000165,50000076,50000283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WPS 演示</Application>
  <PresentationFormat>宽屏</PresentationFormat>
  <Paragraphs>137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Source Han Sans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王冰鑫</dc:creator>
  <cp:lastModifiedBy>当个胖子</cp:lastModifiedBy>
  <cp:revision>94</cp:revision>
  <dcterms:created xsi:type="dcterms:W3CDTF">2022-03-01T00:54:00Z</dcterms:created>
  <dcterms:modified xsi:type="dcterms:W3CDTF">2025-11-22T09:14:58Z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7DD6CB7737A3408F9786AB0E1AF0F217_13</vt:lpwstr>
  </property>
</Properties>
</file>